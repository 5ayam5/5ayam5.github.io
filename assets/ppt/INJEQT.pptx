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21"/>
  </p:notesMasterIdLst>
  <p:sldIdLst>
    <p:sldId id="713" r:id="rId4"/>
    <p:sldId id="709" r:id="rId5"/>
    <p:sldId id="737" r:id="rId6"/>
    <p:sldId id="738" r:id="rId7"/>
    <p:sldId id="719" r:id="rId8"/>
    <p:sldId id="718" r:id="rId9"/>
    <p:sldId id="720" r:id="rId10"/>
    <p:sldId id="721" r:id="rId11"/>
    <p:sldId id="723" r:id="rId12"/>
    <p:sldId id="739" r:id="rId13"/>
    <p:sldId id="724" r:id="rId14"/>
    <p:sldId id="725" r:id="rId15"/>
    <p:sldId id="726" r:id="rId16"/>
    <p:sldId id="727" r:id="rId17"/>
    <p:sldId id="728" r:id="rId18"/>
    <p:sldId id="731" r:id="rId19"/>
    <p:sldId id="735" r:id="rId20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3"/>
            <p14:sldId id="709"/>
            <p14:sldId id="737"/>
            <p14:sldId id="738"/>
            <p14:sldId id="719"/>
            <p14:sldId id="718"/>
            <p14:sldId id="720"/>
            <p14:sldId id="721"/>
            <p14:sldId id="723"/>
            <p14:sldId id="739"/>
            <p14:sldId id="724"/>
            <p14:sldId id="725"/>
            <p14:sldId id="726"/>
            <p14:sldId id="727"/>
            <p14:sldId id="728"/>
            <p14:sldId id="731"/>
            <p14:sldId id="73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1" autoAdjust="0"/>
    <p:restoredTop sz="90977" autoAdjust="0"/>
  </p:normalViewPr>
  <p:slideViewPr>
    <p:cSldViewPr>
      <p:cViewPr varScale="1">
        <p:scale>
          <a:sx n="155" d="100"/>
          <a:sy n="155" d="100"/>
        </p:scale>
        <p:origin x="720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9/18/26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8126-6CAB-1367-1928-E200A7CF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0B54C-896E-CEF4-166A-D894CE1E3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15F522-ECE8-E5BB-0EDB-D4D930711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Rz injections fail with 50%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5196D-93B5-5DC7-0FCC-4EC1CB765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35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7EE2-ABE5-29FD-32DB-5A86CA29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4D4A5-596A-8C42-32F5-C162FCC04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2EECA-3DE1-6FDB-E129-D381861BB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can achieve better Rz error rates than T via INJEQT at current error estimates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BF359-3E77-FC91-880D-322185D2F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16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Okay so we addressed error rates, what about time?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05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Well, that’s bad, so how do we fix this?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686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23773-6609-CF59-784E-1C02698C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8BD62-4515-39A3-1E02-F91D7350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8D934-E681-32CB-EF68-1FFC95226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Well, that’s bad, so how do we fix this?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EC3B5A-9B49-C7B9-4574-A992B3FC4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55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96E3B-B83E-DC16-7AE4-2C671E44CC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C458A-7E0F-0CCC-550A-C52996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48A08-9453-E135-0236-CBBDB6E64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EF96C5-1FD1-1C76-6763-23B40F030A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ABF6C-9E70-325C-1B91-AF13943B4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501C-F7E4-04AB-76ED-A1AE6D19F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1ED1D0-03EB-5579-7615-809CDF8C9E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08245B9C-1C91-D31F-C811-D77348EF4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F8D73-B7B2-4A03-9154-5A41E523C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991A1-172B-6882-E39E-0B56030CA5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7C5E3E2-6CD4-D187-E785-F55035DB6C9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02FB2E-0993-A656-37EC-222BEA69AA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1562" y="674627"/>
            <a:ext cx="5111750" cy="40511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D4872-0AFC-1EC3-51D7-CEBDB78CDE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CA2BD0B-14EC-CF71-7FAC-01E7C113B04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6C737F-D132-D008-4407-959560568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1366F-1051-8F69-E013-960EF08FB4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F77512E-6F39-C6DA-E806-08EF4E146A6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6C9AC94-DDDC-955B-171E-DD887571B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FFAD1-59FF-7507-4F87-ACBAA17B36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20676-E598-DF3E-E361-64AC6C49D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1B7126-C135-61BB-676A-3D89C0A8C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6B2DA-B74A-B6D0-7184-3A46B40059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AA3ECB-732B-42BA-AC66-A0C89E9C8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662C984-2D6E-8F19-2CC7-33A92E756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6D620-0ED4-3AC2-849D-5824328EA6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16BB7-8CE0-47E3-7170-6BD15758D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61A5626-F424-8F02-5FD6-BBFF6EEBA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C90AC-B9AF-9126-622C-4BC59F6D92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1B54783-7405-08F6-5EB4-B1BDF218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A162F742-67BC-9160-772C-764A268F55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59175" y="641510"/>
            <a:ext cx="5111750" cy="40511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54240F-AAB6-5F2F-C4CF-0BCEA8A01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9AD7FA67-CF4C-AC03-5BE1-2EEAE8D7D8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FFD55986-C796-086E-2C45-E2201168E9A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BE8DD0-AF45-1D8C-C01F-D61FD912B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BE141B0-685C-D6AD-D174-37AC3DED1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4" name="Date Placeholder 5">
            <a:extLst>
              <a:ext uri="{FF2B5EF4-FFF2-40B4-BE49-F238E27FC236}">
                <a16:creationId xmlns:a16="http://schemas.microsoft.com/office/drawing/2014/main" id="{4003A3D8-7008-9260-5A93-D8C44FDCC99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4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299AC5-C26C-AB50-7DD0-AD79AE2C3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F93BD-BB0B-0532-74F3-7BB5E9C84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02B41-8749-69E5-9292-BB1CFECBC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CD9BE-7FE9-B84F-9F68-9581B87B46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50B8C-D0AB-946B-89BA-C19359F64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43845-DC8F-0B2C-633B-22E2F2B70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BDC53-02C3-EE45-9990-929E33E3BFC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78FB60A-4F60-183F-BC1D-B731CEAD2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org&amp;utm_campaign=index&amp;utm_content=thumbnai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0390" TargetMode="External"/><Relationship Id="rId2" Type="http://schemas.openxmlformats.org/officeDocument/2006/relationships/hyperlink" Target="https://arxiv.org/abs/2410.03628" TargetMode="Externa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hyperlink" Target="https://arxiv.org/abs/2506.03094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3.13181v1" TargetMode="External"/><Relationship Id="rId3" Type="http://schemas.openxmlformats.org/officeDocument/2006/relationships/image" Target="../media/image10.png"/><Relationship Id="rId7" Type="http://schemas.openxmlformats.org/officeDocument/2006/relationships/hyperlink" Target="http://arxiv.org/abs/2409.17595" TargetMode="External"/><Relationship Id="rId12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arxiv.org/abs/2506.03094" TargetMode="External"/><Relationship Id="rId11" Type="http://schemas.openxmlformats.org/officeDocument/2006/relationships/image" Target="../media/image13.emf"/><Relationship Id="rId5" Type="http://schemas.openxmlformats.org/officeDocument/2006/relationships/image" Target="../media/image9.emf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hyperlink" Target="http://arxiv.org/abs/2408.14708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6.03094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hyperlink" Target="http://arxiv.org/abs/2604.20013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58289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latin typeface="Arial Black" charset="0"/>
              </a:rPr>
              <a:t>SEPT 2026</a:t>
            </a:r>
            <a:endParaRPr lang="en-US" sz="120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75605"/>
            <a:ext cx="7886700" cy="2154727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INJEQT: Improved Magic-State Injection Protocol for Fault-Tolerant Quantum Extractor Architectures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811489"/>
            <a:ext cx="7886700" cy="13525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Sayam Sethi, Sahil Khan, Aditi Awasthi, Abhinav Anand, Jonathan Mark Baker</a:t>
            </a:r>
            <a:endParaRPr lang="en-GB" sz="16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594" y="208647"/>
            <a:ext cx="1877397" cy="914400"/>
          </a:xfrm>
          <a:prstGeom prst="rect">
            <a:avLst/>
          </a:prstGeom>
        </p:spPr>
      </p:pic>
      <p:pic>
        <p:nvPicPr>
          <p:cNvPr id="2" name="Picture 1" descr="File:Duke University logo.svg - Wikimedia Commons">
            <a:extLst>
              <a:ext uri="{FF2B5EF4-FFF2-40B4-BE49-F238E27FC236}">
                <a16:creationId xmlns:a16="http://schemas.microsoft.com/office/drawing/2014/main" id="{F430F321-2FBD-F171-FBBE-FF715E2A7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344" y="428111"/>
            <a:ext cx="1002208" cy="43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2550"/>
            <a:ext cx="4906888" cy="3272135"/>
          </a:xfrm>
        </p:spPr>
        <p:txBody>
          <a:bodyPr>
            <a:normAutofit/>
          </a:bodyPr>
          <a:lstStyle/>
          <a:p>
            <a:r>
              <a:rPr lang="en-US" sz="1600" dirty="0"/>
              <a:t>Recent works</a:t>
            </a:r>
            <a:r>
              <a:rPr lang="en-US" sz="1800" baseline="30000" dirty="0"/>
              <a:t>[27,9,31]</a:t>
            </a:r>
            <a:r>
              <a:rPr lang="en-US" sz="1600" dirty="0"/>
              <a:t> have proposed architectural designs and a PBC (Pauli-Based Computation) compilation pipeline</a:t>
            </a:r>
          </a:p>
          <a:p>
            <a:endParaRPr lang="en-US" sz="1600" dirty="0"/>
          </a:p>
          <a:p>
            <a:r>
              <a:rPr lang="en-US" sz="1600" dirty="0"/>
              <a:t>These techniques </a:t>
            </a:r>
            <a:r>
              <a:rPr lang="en-US" sz="1600" i="1" dirty="0"/>
              <a:t>enable </a:t>
            </a:r>
            <a:r>
              <a:rPr lang="en-US" sz="1600" dirty="0"/>
              <a:t>universal quantum computation on any high-rate code</a:t>
            </a:r>
          </a:p>
          <a:p>
            <a:endParaRPr lang="en-US" sz="1600" dirty="0"/>
          </a:p>
          <a:p>
            <a:r>
              <a:rPr lang="en-US" sz="1600" dirty="0"/>
              <a:t>Still need to address</a:t>
            </a:r>
          </a:p>
          <a:p>
            <a:pPr lvl="1"/>
            <a:r>
              <a:rPr lang="en-US" sz="1400" dirty="0"/>
              <a:t>mechanism and cost of resource state generation + injection</a:t>
            </a:r>
          </a:p>
          <a:p>
            <a:pPr lvl="1"/>
            <a:r>
              <a:rPr lang="en-US" sz="1400" dirty="0"/>
              <a:t>construction of adapters for inter-module operations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23A438-1953-C5E7-66A6-2CCBC7031685}"/>
              </a:ext>
            </a:extLst>
          </p:cNvPr>
          <p:cNvSpPr txBox="1"/>
          <p:nvPr/>
        </p:nvSpPr>
        <p:spPr>
          <a:xfrm>
            <a:off x="457200" y="4624685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[27] </a:t>
            </a:r>
            <a:r>
              <a:rPr lang="en-GB" sz="800" dirty="0">
                <a:hlinkClick r:id="rId2"/>
              </a:rPr>
              <a:t>https://arxiv.org/abs/2410.03628</a:t>
            </a:r>
            <a:endParaRPr lang="en-GB" sz="800" dirty="0"/>
          </a:p>
          <a:p>
            <a:r>
              <a:rPr lang="en-GB" sz="800" dirty="0"/>
              <a:t>[9] </a:t>
            </a:r>
            <a:r>
              <a:rPr lang="en-GB" sz="800" dirty="0">
                <a:hlinkClick r:id="rId3"/>
              </a:rPr>
              <a:t>https://arxiv.org/abs/2503.10390</a:t>
            </a:r>
            <a:endParaRPr lang="en-GB" sz="800" dirty="0"/>
          </a:p>
          <a:p>
            <a:r>
              <a:rPr lang="en-GB" sz="800" dirty="0"/>
              <a:t>[31] </a:t>
            </a:r>
            <a:r>
              <a:rPr lang="en-GB" sz="800" dirty="0">
                <a:hlinkClick r:id="rId4"/>
              </a:rPr>
              <a:t>https://arxiv.org/abs/2506.03094</a:t>
            </a:r>
            <a:endParaRPr lang="en-GB" sz="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B918C-9278-480D-8885-5BCA3731D7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1203598"/>
            <a:ext cx="3673537" cy="31987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2A934A-AD29-404B-24CA-3F216F534FC8}"/>
              </a:ext>
            </a:extLst>
          </p:cNvPr>
          <p:cNvSpPr/>
          <p:nvPr/>
        </p:nvSpPr>
        <p:spPr>
          <a:xfrm>
            <a:off x="6660232" y="1203598"/>
            <a:ext cx="1080120" cy="720080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EBCDB3-4057-74F2-D9D7-C587DF71C732}"/>
              </a:ext>
            </a:extLst>
          </p:cNvPr>
          <p:cNvSpPr/>
          <p:nvPr/>
        </p:nvSpPr>
        <p:spPr>
          <a:xfrm>
            <a:off x="7020272" y="1815666"/>
            <a:ext cx="348366" cy="330333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C6034D-F97A-4490-2F26-D4461086BD51}"/>
              </a:ext>
            </a:extLst>
          </p:cNvPr>
          <p:cNvSpPr/>
          <p:nvPr/>
        </p:nvSpPr>
        <p:spPr>
          <a:xfrm>
            <a:off x="7020272" y="2628875"/>
            <a:ext cx="348366" cy="330333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DD0EA-6B19-D929-BFAF-AF653C76FB67}"/>
              </a:ext>
            </a:extLst>
          </p:cNvPr>
          <p:cNvSpPr/>
          <p:nvPr/>
        </p:nvSpPr>
        <p:spPr>
          <a:xfrm>
            <a:off x="7020272" y="3442084"/>
            <a:ext cx="348366" cy="330333"/>
          </a:xfrm>
          <a:prstGeom prst="rect">
            <a:avLst/>
          </a:prstGeom>
          <a:noFill/>
          <a:ln w="508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B2CBBB-FD32-61BB-D10A-FCBEA313E3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2</a:t>
            </a:fld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4D218B4-D17F-2A0E-9863-AF9839C3BFE7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2800" dirty="0"/>
              <a:t>Extractor-Based Architectures</a:t>
            </a:r>
          </a:p>
        </p:txBody>
      </p:sp>
    </p:spTree>
    <p:extLst>
      <p:ext uri="{BB962C8B-B14F-4D97-AF65-F5344CB8AC3E}">
        <p14:creationId xmlns:p14="http://schemas.microsoft.com/office/powerpoint/2010/main" val="86700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C51D-91F9-8B17-F650-B9D86B8F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3518"/>
            <a:ext cx="8229600" cy="648072"/>
          </a:xfrm>
        </p:spPr>
        <p:txBody>
          <a:bodyPr>
            <a:normAutofit/>
          </a:bodyPr>
          <a:lstStyle/>
          <a:p>
            <a:r>
              <a:rPr lang="en-GB" sz="2800" dirty="0"/>
              <a:t>Compiling to Extractor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6D67D-3327-A44C-75A9-B7E367DE8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3</a:t>
            </a:fld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9E9A81C-2A6D-1C6C-0026-64994C23C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9065"/>
            <a:ext cx="3674251" cy="3148081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GB" sz="1600" dirty="0"/>
              <a:t>Start with a Clifford + Rz/T circuit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dirty="0"/>
              <a:t>Commute all Cliffords to the end to obtain Pauli Product Rotations/Measurements (PPRs/PPMs)</a:t>
            </a:r>
          </a:p>
          <a:p>
            <a:pPr>
              <a:buFont typeface="+mj-lt"/>
              <a:buAutoNum type="arabicPeriod"/>
            </a:pPr>
            <a:endParaRPr lang="en-GB" sz="1600" dirty="0"/>
          </a:p>
          <a:p>
            <a:pPr>
              <a:buFont typeface="+mj-lt"/>
              <a:buAutoNum type="arabicPeriod"/>
            </a:pPr>
            <a:r>
              <a:rPr lang="en-GB" sz="1600" dirty="0"/>
              <a:t>Compile the PPRs and PPMs into extractor instructions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9F16E62-7396-F2D5-181E-2C7588584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604" y="3167195"/>
            <a:ext cx="5016500" cy="15113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D24481-589D-E55A-9B83-7001BB215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957" y="1224120"/>
            <a:ext cx="4940300" cy="16256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B94B11F-1844-6666-1E44-7E72E6979A20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592107" y="2849720"/>
            <a:ext cx="0" cy="2260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Content Placeholder 5">
            <a:extLst>
              <a:ext uri="{FF2B5EF4-FFF2-40B4-BE49-F238E27FC236}">
                <a16:creationId xmlns:a16="http://schemas.microsoft.com/office/drawing/2014/main" id="{E0878E9D-B154-44FF-9896-1DF6E4E15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757" y="3163730"/>
            <a:ext cx="5016500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21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-0.0108 L -0.00034 -0.3608 " pathEditMode="relative" ptsTypes="AA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B0DE-E812-41F1-67D5-9160C28CB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BF91748-F577-13A2-4EFE-5BBFC3DB0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699" y="2181460"/>
            <a:ext cx="5069461" cy="113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F92F49-7F33-1A96-40FF-FC914C50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3518"/>
            <a:ext cx="8229600" cy="648072"/>
          </a:xfrm>
        </p:spPr>
        <p:txBody>
          <a:bodyPr>
            <a:normAutofit/>
          </a:bodyPr>
          <a:lstStyle/>
          <a:p>
            <a:r>
              <a:rPr lang="en-GB" sz="2800" dirty="0"/>
              <a:t>Extractor ISA on the Gross Code (Tour de Gross)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21D81-B192-984A-235C-198F12F72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4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4F5A538-DC68-0923-B8ED-D9433CCFE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9065"/>
                <a:ext cx="3141609" cy="3148081"/>
              </a:xfrm>
            </p:spPr>
            <p:txBody>
              <a:bodyPr>
                <a:noAutofit/>
              </a:bodyPr>
              <a:lstStyle/>
              <a:p>
                <a:r>
                  <a:rPr lang="en-GB" sz="1600" dirty="0"/>
                  <a:t>Inter-module instructions are the most erroneous</a:t>
                </a:r>
              </a:p>
              <a:p>
                <a:r>
                  <a:rPr lang="en-GB" sz="1600" dirty="0"/>
                  <a:t>Magic state preparation can be done by:</a:t>
                </a:r>
              </a:p>
              <a:p>
                <a:pPr lvl="1"/>
                <a:r>
                  <a:rPr lang="en-GB" sz="1200" dirty="0"/>
                  <a:t>Multiple |𝑇⟩ states</a:t>
                </a:r>
                <a:br>
                  <a:rPr lang="en-GB" sz="1200" dirty="0"/>
                </a:br>
                <a:r>
                  <a:rPr lang="en-GB" sz="1200" dirty="0"/>
                  <a:t>(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200" dirty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10 </m:t>
                    </m:r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⁡(1/</m:t>
                    </m:r>
                    <m:r>
                      <a:rPr lang="el-GR" sz="1200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800" dirty="0"/>
                  <a:t> </a:t>
                </a:r>
                <a:r>
                  <a:rPr lang="en-GB" sz="1200" dirty="0"/>
                  <a:t>injections for a synthesis fidelity </a:t>
                </a:r>
                <a14:m>
                  <m:oMath xmlns:m="http://schemas.openxmlformats.org/officeDocument/2006/math">
                    <m:r>
                      <a:rPr lang="el-GR" sz="1200" i="1" dirty="0">
                        <a:solidFill>
                          <a:srgbClr val="333F48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GB" sz="1200" dirty="0"/>
                  <a:t>)</a:t>
                </a:r>
                <a:endParaRPr lang="en-GB" sz="800" dirty="0"/>
              </a:p>
              <a:p>
                <a:pPr lvl="1"/>
                <a:r>
                  <a:rPr lang="en-GB" sz="1200" dirty="0"/>
                  <a:t>Single Rz state</a:t>
                </a:r>
                <a:endParaRPr lang="en-GB" sz="1200" baseline="30000" dirty="0"/>
              </a:p>
              <a:p>
                <a:r>
                  <a:rPr lang="en-GB" sz="1600" dirty="0"/>
                  <a:t>Each injection also requires an inter-module measurement</a:t>
                </a:r>
              </a:p>
            </p:txBody>
          </p:sp>
        </mc:Choice>
        <mc:Fallback>
          <p:sp>
            <p:nvSpPr>
              <p:cNvPr id="12" name="Content Placeholder 11">
                <a:extLst>
                  <a:ext uri="{FF2B5EF4-FFF2-40B4-BE49-F238E27FC236}">
                    <a16:creationId xmlns:a16="http://schemas.microsoft.com/office/drawing/2014/main" id="{34F5A538-DC68-0923-B8ED-D9433CCFE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9065"/>
                <a:ext cx="3141609" cy="3148081"/>
              </a:xfrm>
              <a:blipFill>
                <a:blip r:embed="rId4"/>
                <a:stretch>
                  <a:fillRect l="-806" t="-806" r="-16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96EB41DB-DA3B-A62A-214C-FD9B25B599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396" y="1131590"/>
            <a:ext cx="2902507" cy="874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81C9D-B775-118D-9FE2-EAD9B9F616D1}"/>
              </a:ext>
            </a:extLst>
          </p:cNvPr>
          <p:cNvSpPr txBox="1"/>
          <p:nvPr/>
        </p:nvSpPr>
        <p:spPr>
          <a:xfrm>
            <a:off x="457199" y="4558725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[31] </a:t>
            </a:r>
            <a:r>
              <a:rPr lang="en-GB" sz="800" dirty="0">
                <a:hlinkClick r:id="rId6"/>
              </a:rPr>
              <a:t>https://arxiv.org/abs/2506.03094</a:t>
            </a:r>
            <a:endParaRPr lang="en-GB" sz="800" dirty="0"/>
          </a:p>
          <a:p>
            <a:r>
              <a:rPr lang="en-GB" sz="800" dirty="0"/>
              <a:t>[7] </a:t>
            </a:r>
            <a:r>
              <a:rPr lang="en-GB" sz="800" dirty="0">
                <a:hlinkClick r:id="rId7"/>
              </a:rPr>
              <a:t>http://arxiv.org/abs/2409.17595</a:t>
            </a:r>
            <a:endParaRPr lang="en-GB" sz="800" dirty="0"/>
          </a:p>
          <a:p>
            <a:r>
              <a:rPr lang="en-GB" sz="800" dirty="0"/>
              <a:t>[1] </a:t>
            </a:r>
            <a:r>
              <a:rPr lang="en-GB" sz="800" dirty="0">
                <a:hlinkClick r:id="rId8"/>
              </a:rPr>
              <a:t>https://arxiv.org/abs/2303.13181v1</a:t>
            </a:r>
            <a:endParaRPr lang="en-GB" sz="800" dirty="0"/>
          </a:p>
          <a:p>
            <a:r>
              <a:rPr lang="en-GB" sz="800" dirty="0"/>
              <a:t>[23] </a:t>
            </a:r>
            <a:r>
              <a:rPr lang="en-GB" sz="800" dirty="0">
                <a:hlinkClick r:id="rId9"/>
              </a:rPr>
              <a:t>http://arxiv.org/abs/2408.14708</a:t>
            </a:r>
            <a:endParaRPr lang="en-GB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DCC69-9558-B311-E843-C03A789B83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4490" y="3379487"/>
            <a:ext cx="5133413" cy="128049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344F80-99AA-ECD0-49E6-12A32904CDFE}"/>
              </a:ext>
            </a:extLst>
          </p:cNvPr>
          <p:cNvSpPr/>
          <p:nvPr/>
        </p:nvSpPr>
        <p:spPr>
          <a:xfrm>
            <a:off x="3805602" y="2610744"/>
            <a:ext cx="5087990" cy="379344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82161-50EF-6DAA-468E-1D3EEED282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3015" y="1256501"/>
            <a:ext cx="2824888" cy="6030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F0534D-6DE2-50BC-2C1D-27FD14ED4B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6428" y="1256501"/>
            <a:ext cx="2358968" cy="7881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B3BD0E9-8061-A50D-A4F5-FF20DA3C3D94}"/>
              </a:ext>
            </a:extLst>
          </p:cNvPr>
          <p:cNvSpPr/>
          <p:nvPr/>
        </p:nvSpPr>
        <p:spPr>
          <a:xfrm>
            <a:off x="5004048" y="987574"/>
            <a:ext cx="2232248" cy="256604"/>
          </a:xfrm>
          <a:prstGeom prst="rect">
            <a:avLst/>
          </a:prstGeom>
          <a:solidFill>
            <a:schemeClr val="tx1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/>
              <a:t>requires a correction Rz with 50% probability</a:t>
            </a:r>
            <a:endParaRPr lang="en-GB" sz="800" baseline="30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F18985-1C3F-3A12-49B4-DEEBF79DD899}"/>
              </a:ext>
            </a:extLst>
          </p:cNvPr>
          <p:cNvCxnSpPr>
            <a:stCxn id="18" idx="2"/>
          </p:cNvCxnSpPr>
          <p:nvPr/>
        </p:nvCxnSpPr>
        <p:spPr>
          <a:xfrm flipH="1">
            <a:off x="5652120" y="1244178"/>
            <a:ext cx="468052" cy="2048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81EDB54-6B31-E82D-4F1E-B86569DA6EA0}"/>
              </a:ext>
            </a:extLst>
          </p:cNvPr>
          <p:cNvSpPr/>
          <p:nvPr/>
        </p:nvSpPr>
        <p:spPr>
          <a:xfrm>
            <a:off x="3827201" y="4308262"/>
            <a:ext cx="5087990" cy="211792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B3F2A6A-E8EA-EF47-B659-211BACAC2046}"/>
              </a:ext>
            </a:extLst>
          </p:cNvPr>
          <p:cNvSpPr/>
          <p:nvPr/>
        </p:nvSpPr>
        <p:spPr>
          <a:xfrm>
            <a:off x="3804426" y="2990088"/>
            <a:ext cx="5087990" cy="211792"/>
          </a:xfrm>
          <a:prstGeom prst="roundRect">
            <a:avLst>
              <a:gd name="adj" fmla="val 50000"/>
            </a:avLst>
          </a:prstGeom>
          <a:noFill/>
          <a:ln w="508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0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8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7771-3D7E-616B-8A47-9EEFEA111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0E4F2-124B-77D2-7A1E-DB29696EC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52550"/>
                <a:ext cx="5770984" cy="327213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dirty="0"/>
                  <a:t>The error incurred by each factory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d>
                          <m:dPr>
                            <m:begChr m:val="|"/>
                            <m:endChr m:val="⟩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b>
                        </m:sSub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𝑅𝑧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≈2(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Rz</m:t>
                            </m:r>
                          </m:sub>
                        </m:sSub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b="0" dirty="0"/>
                  <a:t> (in expectation)</a:t>
                </a:r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:endParaRPr lang="en-US" sz="2000" b="0" dirty="0"/>
              </a:p>
              <a:p>
                <a:pPr marL="0" indent="0">
                  <a:buNone/>
                </a:pPr>
                <a:r>
                  <a:rPr lang="en-US" sz="2000" dirty="0"/>
                  <a:t>If we want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𝑅𝑧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d>
                          <m:dPr>
                            <m:begChr m:val="|"/>
                            <m:endChr m:val="⟩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sub>
                    </m:sSub>
                  </m:oMath>
                </a14:m>
                <a:r>
                  <a:rPr lang="en-US" sz="2000" b="0" dirty="0"/>
                  <a:t>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Rz</m:t>
                              </m:r>
                            </m:sub>
                          </m:sSub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ℱ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sub>
                                  </m:sSub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0E4F2-124B-77D2-7A1E-DB29696EC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52550"/>
                <a:ext cx="5770984" cy="3272135"/>
              </a:xfrm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941C3F9-77D3-F25D-618B-1ED8D5DCF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2742258"/>
            <a:ext cx="3682752" cy="18459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C50382-70C0-F704-06D7-BA6A88223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F27306D-0684-25B1-6592-ACC9B8FCA8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270912"/>
                  </p:ext>
                </p:extLst>
              </p:nvPr>
            </p:nvGraphicFramePr>
            <p:xfrm>
              <a:off x="6300192" y="1128180"/>
              <a:ext cx="2379720" cy="1434973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558979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1820741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306499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begChr m:val="|"/>
                                            <m:endChr m:val="⟩"/>
                                            <m:ctrlP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LER of the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287021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Rz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GB" sz="1200" dirty="0"/>
                            <a:t>LER of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Rz</m:t>
                              </m:r>
                            </m:oMath>
                          </a14:m>
                          <a:r>
                            <a:rPr lang="en-GB" sz="12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283502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d>
                                      <m:dPr>
                                        <m:begChr m:val="|"/>
                                        <m:endChr m:val="⟩"/>
                                        <m:ctrlP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</m:sub>
                                </m:sSub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GB" sz="1200" dirty="0"/>
                            <a:t>LER of the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 gate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27143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𝑅𝑧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LER of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Rz</m:t>
                              </m:r>
                            </m:oMath>
                          </a14:m>
                          <a:r>
                            <a:rPr lang="en-GB" sz="1200" dirty="0"/>
                            <a:t> gate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27143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200" dirty="0"/>
                            <a:t>Number of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200" dirty="0"/>
                            <a:t> injections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7F27306D-0684-25B1-6592-ACC9B8FCA8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9270912"/>
                  </p:ext>
                </p:extLst>
              </p:nvPr>
            </p:nvGraphicFramePr>
            <p:xfrm>
              <a:off x="6300192" y="1128180"/>
              <a:ext cx="2379720" cy="1434973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558979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1820741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3097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3" r="-329545" b="-36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1250" r="-694" b="-36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2900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3" t="-108696" r="-32954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1250" t="-108696" r="-694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2865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3" t="-218182" r="-329545" b="-2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1250" t="-218182" r="-694" b="-2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3" t="-318182" r="-329545" b="-1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1250" t="-318182" r="-694" b="-1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273" t="-418182" r="-329545" b="-1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1250" t="-418182" r="-694" b="-1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33D577B-3C74-5AA8-9222-3EC08C234A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483518"/>
                <a:ext cx="8229600" cy="6480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sz="3600" kern="1200">
                    <a:solidFill>
                      <a:schemeClr val="bg2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800" dirty="0"/>
                  <a:t>Error Analysis – Deciding between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</a:rPr>
                      <m:t>Rz</m:t>
                    </m:r>
                  </m:oMath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933D577B-3C74-5AA8-9222-3EC08C234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3518"/>
                <a:ext cx="8229600" cy="648072"/>
              </a:xfrm>
              <a:prstGeom prst="rect">
                <a:avLst/>
              </a:prstGeom>
              <a:blipFill>
                <a:blip r:embed="rId6"/>
                <a:stretch>
                  <a:fillRect l="-1698" b="-132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71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EFC4-B89D-38D4-B702-FB30837E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2F381A-EA6C-4999-07D6-838CF67455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3047" y="1295400"/>
            <a:ext cx="6797906" cy="32718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D03D47-6814-3F3C-BEB5-CF23A6124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10B701C7-90B0-7F70-3136-EF56B1AEAB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483518"/>
                <a:ext cx="8229600" cy="6480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85000" lnSpcReduction="10000"/>
              </a:bodyPr>
              <a:lstStyle>
                <a:lvl1pPr algn="l" defTabSz="457200" rtl="0" eaLnBrk="1" latinLnBrk="0" hangingPunct="1">
                  <a:spcBef>
                    <a:spcPct val="0"/>
                  </a:spcBef>
                  <a:buNone/>
                  <a:defRPr sz="3600" kern="1200">
                    <a:solidFill>
                      <a:schemeClr val="bg2"/>
                    </a:soli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pPr fontAlgn="auto">
                  <a:spcAft>
                    <a:spcPts val="0"/>
                  </a:spcAft>
                </a:pPr>
                <a:r>
                  <a:rPr lang="en-US" sz="2800" dirty="0"/>
                  <a:t>Error Analysis 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</a:rPr>
                      <m:t>Rz</m:t>
                    </m:r>
                  </m:oMath>
                </a14:m>
                <a:r>
                  <a:rPr lang="en-GB" sz="2800" dirty="0"/>
                  <a:t> wins over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800" dirty="0"/>
                  <a:t> at current LER estimates</a:t>
                </a:r>
                <a:endParaRPr lang="en-GB" sz="2800" dirty="0"/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10B701C7-90B0-7F70-3136-EF56B1AE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3518"/>
                <a:ext cx="8229600" cy="648072"/>
              </a:xfrm>
              <a:prstGeom prst="rect">
                <a:avLst/>
              </a:prstGeom>
              <a:blipFill>
                <a:blip r:embed="rId4"/>
                <a:stretch>
                  <a:fillRect l="-1235" b="-18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397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F93AF-8228-D705-5B2E-7EB15083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6811-2B82-4544-3436-8E6BB69A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dirty="0"/>
              <a:t>INJEQT: 2-Level Factory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7EF2C-FDF5-F440-C48D-4A5C495C3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52550"/>
                <a:ext cx="8229600" cy="2027535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Want: construct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𝑅𝑧</m:t>
                    </m:r>
                  </m:oMath>
                </a14:m>
                <a:r>
                  <a:rPr lang="en-US" sz="1600" dirty="0"/>
                  <a:t> states with low error in auxiliary code</a:t>
                </a:r>
              </a:p>
              <a:p>
                <a:r>
                  <a:rPr lang="en-US" sz="1600" dirty="0"/>
                  <a:t>Lattice surgery error in surface code scales as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sz="1600" b="0" i="1" dirty="0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</m:sSup>
                      </m:e>
                    </m:d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b>
                        </m:sSub>
                      </m:sub>
                    </m:sSub>
                  </m:oMath>
                </a14:m>
                <a:r>
                  <a:rPr lang="en-US" sz="1600" baseline="30000" dirty="0"/>
                  <a:t>[31]</a:t>
                </a:r>
              </a:p>
              <a:p>
                <a:r>
                  <a:rPr lang="en-US" sz="1600" dirty="0"/>
                  <a:t>Therefore, we can prepare low-error Rz states using 2-level factory design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7EF2C-FDF5-F440-C48D-4A5C495C3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52550"/>
                <a:ext cx="8229600" cy="2027535"/>
              </a:xfrm>
              <a:blipFill>
                <a:blip r:embed="rId2"/>
                <a:stretch>
                  <a:fillRect l="-309" t="-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D30E24-1746-9A51-CBB8-F49C5371AE81}"/>
              </a:ext>
            </a:extLst>
          </p:cNvPr>
          <p:cNvSpPr txBox="1"/>
          <p:nvPr/>
        </p:nvSpPr>
        <p:spPr>
          <a:xfrm>
            <a:off x="457200" y="4624685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[31] </a:t>
            </a:r>
            <a:r>
              <a:rPr lang="en-GB" sz="800" dirty="0">
                <a:hlinkClick r:id="rId3"/>
              </a:rPr>
              <a:t>https://arxiv.org/abs/2506.03094</a:t>
            </a:r>
            <a:endParaRPr lang="en-GB" sz="800" dirty="0"/>
          </a:p>
          <a:p>
            <a:r>
              <a:rPr lang="en-GB" sz="800" dirty="0"/>
              <a:t>Note: [17] </a:t>
            </a:r>
            <a:r>
              <a:rPr lang="en-GB" sz="800" dirty="0">
                <a:hlinkClick r:id="rId4"/>
              </a:rPr>
              <a:t>http://arxiv.org/abs/2604.20013</a:t>
            </a:r>
            <a:r>
              <a:rPr lang="en-GB" sz="800" dirty="0"/>
              <a:t> is a same-time work with a similar construction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F5F06-AD28-9B65-54B4-CC54019C1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31" y="2571750"/>
            <a:ext cx="7603938" cy="170914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F3C885-59E7-2B9E-D77A-9DB358C56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17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997D-69E2-60B2-CA5C-0BCCB293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BF43D-1B83-0FB4-1FF4-2455081FE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dirty="0"/>
              <a:t>INJEQT: Timing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D7FB5-EFED-25C4-A851-4552642ED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52550"/>
                <a:ext cx="5770984" cy="3272135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For tour de gross (TDG), each PPR takes: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𝑇𝐷𝐺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ℱ</m:t>
                              </m:r>
                            </m:e>
                            <m:sub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𝒞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The expected time for PPR execution in INJEQT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𝐼𝑁𝐽𝐸𝑄𝑇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𝑝𝑟𝑒𝑝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𝒞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	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𝑝𝑟𝑒𝑝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ℱ</m:t>
                                </m:r>
                              </m:e>
                              <m:sub>
                                <m:d>
                                  <m:dPr>
                                    <m:begChr m:val="|"/>
                                    <m:endChr m:val="⟩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sub>
                            </m:sSub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𝑡𝑒𝑐ℎ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sz="1400" dirty="0"/>
                </a:br>
                <a:r>
                  <a:rPr lang="en-US" sz="1400" dirty="0"/>
                  <a:t>	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𝑡𝑒𝑐ℎ</m:t>
                        </m:r>
                      </m:sub>
                    </m:sSub>
                  </m:oMath>
                </a14:m>
                <a:r>
                  <a:rPr lang="en-US" sz="1400" dirty="0"/>
                  <a:t> depends on the choice of surface code technology)</a:t>
                </a:r>
              </a:p>
              <a:p>
                <a:r>
                  <a:rPr lang="en-US" sz="1600" dirty="0"/>
                  <a:t>We can now compute,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𝐼𝑁𝐽𝐸𝑄𝑇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𝐼𝑁𝐽𝐸𝑄𝑇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𝑇𝐷𝐺</m:t>
                              </m:r>
                            </m:sub>
                          </m:sSub>
                        </m:den>
                      </m:f>
                      <m:r>
                        <a:rPr lang="en-US" sz="1400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ℱ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sub>
                                  </m:sSub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tech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ℱ</m:t>
                                      </m:r>
                                    </m:e>
                                    <m:sub>
                                      <m:d>
                                        <m:dPr>
                                          <m:begChr m:val="|"/>
                                          <m:endChr m:val="⟩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sub>
                                  </m:sSub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𝒞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400" dirty="0"/>
              </a:p>
              <a:p>
                <a:r>
                  <a:rPr lang="en-US" sz="1400" dirty="0"/>
                  <a:t>Despite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i="1">
                            <a:latin typeface="Cambria Math" panose="02040503050406030204" pitchFamily="18" charset="0"/>
                          </a:rPr>
                          <m:t>tech</m:t>
                        </m:r>
                      </m:sub>
                    </m:sSub>
                  </m:oMath>
                </a14:m>
                <a:r>
                  <a:rPr lang="en-US" sz="1400" dirty="0"/>
                  <a:t> being small,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sSub>
                          <m:sSub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  <m:sub>
                            <m:d>
                              <m:dPr>
                                <m:begChr m:val="|"/>
                                <m:endChr m:val="⟩"/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b>
                        </m:sSub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</m:oMath>
                </a14:m>
                <a:r>
                  <a:rPr lang="en-US" sz="1400" dirty="0"/>
                  <a:t> and therefore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Therefore, naïve implementation of INJEQT is sub-optimal in time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03D7FB5-EFED-25C4-A851-4552642ED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52550"/>
                <a:ext cx="5770984" cy="3272135"/>
              </a:xfrm>
              <a:blipFill>
                <a:blip r:embed="rId3"/>
                <a:stretch>
                  <a:fillRect l="-440" t="-3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18F69-DE71-0B6A-35BD-3D2F9F924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CCE2D18-04BF-1D7C-4450-DD3DFD40E8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127312"/>
                  </p:ext>
                </p:extLst>
              </p:nvPr>
            </p:nvGraphicFramePr>
            <p:xfrm>
              <a:off x="6117923" y="1563638"/>
              <a:ext cx="2737454" cy="2700528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758333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1979121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306499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begChr m:val="|"/>
                                            <m:endChr m:val="⟩"/>
                                            <m:ctrlP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dirty="0"/>
                            <a:t>#steps for</a:t>
                          </a:r>
                          <a:r>
                            <a:rPr lang="en-GB" sz="1400" baseline="0" dirty="0"/>
                            <a:t> the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287021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i="1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400" b="0" i="1" smtClean="0">
                                            <a:latin typeface="Cambria Math" panose="02040503050406030204" pitchFamily="18" charset="0"/>
                                          </a:rPr>
                                          <m:t>Rz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GB" sz="1400" dirty="0"/>
                            <a:t>#steps</a:t>
                          </a:r>
                          <a:r>
                            <a:rPr lang="en-GB" sz="1400" baseline="0" dirty="0"/>
                            <a:t> for the</a:t>
                          </a:r>
                          <a:r>
                            <a:rPr lang="en-GB" sz="1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Rz</m:t>
                              </m:r>
                            </m:oMath>
                          </a14:m>
                          <a:r>
                            <a:rPr lang="en-GB" sz="14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283502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US" sz="1400" dirty="0"/>
                            <a:t>#steps for inter-module measurements</a:t>
                          </a:r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27143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𝑡𝑒𝑐ℎ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#steps for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injection in surface code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27143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400" dirty="0"/>
                            <a:t>Number of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400" dirty="0"/>
                            <a:t> injections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  <a:tr h="27143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𝐼𝑁𝐽𝐸𝑄𝑇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400" dirty="0"/>
                            <a:t>#steps for INJEQT : TDG (ratio)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0305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CCE2D18-04BF-1D7C-4450-DD3DFD40E8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5127312"/>
                  </p:ext>
                </p:extLst>
              </p:nvPr>
            </p:nvGraphicFramePr>
            <p:xfrm>
              <a:off x="6117923" y="1563638"/>
              <a:ext cx="2737454" cy="2700528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758333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1979121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2439" r="-263333" b="-4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854" t="-2439" r="-637" b="-4341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3230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68000" r="-263333" b="-6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854" t="-168000" r="-637" b="-6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163415" r="-263333" b="-2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US" sz="1400" dirty="0"/>
                            <a:t>#steps for inter-module measurements</a:t>
                          </a:r>
                          <a:endParaRPr lang="en-GB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263415" r="-263333" b="-1731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854" t="-263415" r="-637" b="-1731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620833" r="-263333" b="-19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8854" t="-620833" r="-637" b="-19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667" t="-421951" r="-263333" b="-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400" dirty="0"/>
                            <a:t>#steps for INJEQT : TDG (ratio)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03057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D3B0ADF5-DB0B-9315-0E05-C5964C5EA03D}"/>
              </a:ext>
            </a:extLst>
          </p:cNvPr>
          <p:cNvSpPr/>
          <p:nvPr/>
        </p:nvSpPr>
        <p:spPr>
          <a:xfrm>
            <a:off x="1331640" y="3435846"/>
            <a:ext cx="3960440" cy="57606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36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2343-D6FB-6DAA-FE22-4C23AB09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D0BF-4DA1-16D1-4A4B-DF1DA8ED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dirty="0"/>
              <a:t>INJEQT: Improve Performance by Pre-Fetching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642207-ADA8-4488-98D6-A32B0A650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520" y="1295400"/>
            <a:ext cx="4745442" cy="178040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A9C01-4CEF-47E1-F39F-21A330521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7A363-8CB4-354B-4DA4-3BE92FE2C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8739"/>
                <a:ext cx="4834880" cy="3428524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Recall: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𝑅𝑧</m:t>
                    </m:r>
                  </m:oMath>
                </a14:m>
                <a:r>
                  <a:rPr lang="en-US" sz="1600" dirty="0"/>
                  <a:t> injection fails with 50% probability</a:t>
                </a:r>
              </a:p>
              <a:p>
                <a:r>
                  <a:rPr lang="en-US" sz="1600" dirty="0"/>
                  <a:t>Pre-fetch correction states using R factories</a:t>
                </a:r>
              </a:p>
              <a:p>
                <a:r>
                  <a:rPr lang="en-US" sz="1600" dirty="0"/>
                  <a:t>What do we do with unused states?</a:t>
                </a:r>
              </a:p>
              <a:p>
                <a:pPr lvl="1"/>
                <a:r>
                  <a:rPr lang="en-US" sz="1200" dirty="0"/>
                  <a:t>Usable for next rotation? Keep them</a:t>
                </a:r>
              </a:p>
              <a:p>
                <a:pPr lvl="1"/>
                <a:r>
                  <a:rPr lang="en-US" sz="1200" dirty="0"/>
                  <a:t>Else, discard</a:t>
                </a:r>
              </a:p>
              <a:p>
                <a:r>
                  <a:rPr lang="en-US" sz="1600" dirty="0"/>
                  <a:t>No stalls if:</a:t>
                </a:r>
                <a:br>
                  <a:rPr lang="en-US" sz="1600" dirty="0"/>
                </a:br>
                <a:r>
                  <a:rPr lang="en-US" sz="1600" dirty="0"/>
                  <a:t>#injections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=1+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𝑝𝑟𝑒𝑝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𝒞</m:t>
                        </m:r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(</a:t>
                </a:r>
                <a:r>
                  <a:rPr lang="en-US" sz="1600" dirty="0" err="1"/>
                  <a:t>w.p.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dirty="0"/>
                  <a:t>)</a:t>
                </a:r>
              </a:p>
              <a:p>
                <a:r>
                  <a:rPr lang="en-US" sz="1600" dirty="0"/>
                  <a:t>As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sz="1600" dirty="0"/>
                  <a:t>, this gives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𝐼𝑁𝐽𝐸𝑄𝑇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𝑝𝑟𝑒𝑝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𝒞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r>
                  <a:rPr lang="en-US" sz="1600" dirty="0"/>
                  <a:t>If we prepare in parallel with other ops,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𝐼𝑁𝐽𝐸𝑄</m:t>
                          </m:r>
                          <m:sSup>
                            <m:sSup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</m:sup>
                          </m:sSup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𝒞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7A363-8CB4-354B-4DA4-3BE92FE2C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8739"/>
                <a:ext cx="4834880" cy="3428524"/>
              </a:xfrm>
              <a:blipFill>
                <a:blip r:embed="rId4"/>
                <a:stretch>
                  <a:fillRect l="-525" t="-3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E281DE9-0C32-BFB2-1D52-B118F3311E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437378"/>
                  </p:ext>
                </p:extLst>
              </p:nvPr>
            </p:nvGraphicFramePr>
            <p:xfrm>
              <a:off x="5210618" y="3119145"/>
              <a:ext cx="3007246" cy="1516381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687371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2319875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196076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d>
                                          <m:dPr>
                                            <m:begChr m:val="|"/>
                                            <m:endChr m:val="⟩"/>
                                            <m:ctrlP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0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</m:d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dirty="0"/>
                            <a:t>#steps for</a:t>
                          </a:r>
                          <a:r>
                            <a:rPr lang="en-GB" sz="1000" baseline="0" dirty="0"/>
                            <a:t> the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0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184411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i="1">
                                            <a:latin typeface="Cambria Math" panose="02040503050406030204" pitchFamily="18" charset="0"/>
                                          </a:rPr>
                                          <m:t>ℱ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00" b="0" i="1" smtClean="0">
                                            <a:latin typeface="Cambria Math" panose="02040503050406030204" pitchFamily="18" charset="0"/>
                                          </a:rPr>
                                          <m:t>Rz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GB" sz="1000" dirty="0"/>
                            <a:t>#steps</a:t>
                          </a:r>
                          <a:r>
                            <a:rPr lang="en-GB" sz="1000" baseline="0" dirty="0"/>
                            <a:t> for the</a:t>
                          </a:r>
                          <a:r>
                            <a:rPr lang="en-GB" sz="10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Rz</m:t>
                              </m:r>
                            </m:oMath>
                          </a14:m>
                          <a:r>
                            <a:rPr lang="en-GB" sz="1000" dirty="0"/>
                            <a:t> factory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17497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US" sz="1000" dirty="0"/>
                            <a:t>#steps for inter-module measurements</a:t>
                          </a:r>
                          <a:endParaRPr lang="en-GB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17497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e>
                                  <m:sub>
                                    <m:r>
                                      <a:rPr lang="en-US" sz="1000" b="0" i="1" smtClean="0">
                                        <a:latin typeface="Cambria Math" panose="02040503050406030204" pitchFamily="18" charset="0"/>
                                      </a:rPr>
                                      <m:t>𝑡𝑒𝑐ℎ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000" dirty="0"/>
                            <a:t>#steps for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000" dirty="0"/>
                            <a:t> injection in surface code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174978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0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000" dirty="0"/>
                            <a:t>Number of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|"/>
                                  <m:endChr m:val="⟩"/>
                                  <m:ctrlP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oMath>
                          </a14:m>
                          <a:r>
                            <a:rPr lang="en-GB" sz="1000" dirty="0"/>
                            <a:t> injections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  <a:tr h="182725"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1000" i="1">
                                        <a:latin typeface="Cambria Math" panose="02040503050406030204" pitchFamily="18" charset="0"/>
                                      </a:rPr>
                                      <m:t>𝐼𝑁𝐽𝐸𝑄𝑇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000" dirty="0"/>
                            <a:t>#steps for INJEQT : TDG (ratio)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03057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CE281DE9-0C32-BFB2-1D52-B118F3311E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437378"/>
                  </p:ext>
                </p:extLst>
              </p:nvPr>
            </p:nvGraphicFramePr>
            <p:xfrm>
              <a:off x="5210618" y="3119145"/>
              <a:ext cx="3007246" cy="1516381"/>
            </p:xfrm>
            <a:graphic>
              <a:graphicData uri="http://schemas.openxmlformats.org/drawingml/2006/table">
                <a:tbl>
                  <a:tblPr firstCol="1" bandCol="1">
                    <a:tableStyleId>{5C22544A-7EE6-4342-B048-85BDC9FD1C3A}</a:tableStyleId>
                  </a:tblPr>
                  <a:tblGrid>
                    <a:gridCol w="687371">
                      <a:extLst>
                        <a:ext uri="{9D8B030D-6E8A-4147-A177-3AD203B41FA5}">
                          <a16:colId xmlns:a16="http://schemas.microsoft.com/office/drawing/2014/main" val="31631703"/>
                        </a:ext>
                      </a:extLst>
                    </a:gridCol>
                    <a:gridCol w="2319875">
                      <a:extLst>
                        <a:ext uri="{9D8B030D-6E8A-4147-A177-3AD203B41FA5}">
                          <a16:colId xmlns:a16="http://schemas.microsoft.com/office/drawing/2014/main" val="2322349240"/>
                        </a:ext>
                      </a:extLst>
                    </a:gridCol>
                  </a:tblGrid>
                  <a:tr h="2732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4545" r="-342593" b="-4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891" t="-4545" r="-543" b="-4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0526868"/>
                      </a:ext>
                    </a:extLst>
                  </a:tr>
                  <a:tr h="25698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115000" r="-342593" b="-4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891" t="-115000" r="-543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152530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215000" r="-34259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>
                            <a:buFont typeface="Arial"/>
                            <a:buNone/>
                          </a:pPr>
                          <a:r>
                            <a:rPr lang="en-US" sz="1000" dirty="0"/>
                            <a:t>#steps for inter-module measurements</a:t>
                          </a:r>
                          <a:endParaRPr lang="en-GB" sz="1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4930276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331579" r="-342593" b="-2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891" t="-331579" r="-543" b="-2157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94079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410000" r="-342593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9891" t="-410000" r="-543" b="-1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5877559"/>
                      </a:ext>
                    </a:extLst>
                  </a:tr>
                  <a:tr h="2546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852" t="-510000" r="-342593" b="-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GB" sz="1000" dirty="0"/>
                            <a:t>#steps for INJEQT : TDG (ratio)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03057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8017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F35E-4111-590E-ACA7-75AC04F05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3238-E5A1-D924-850E-422A8A983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dirty="0"/>
              <a:t>Evaluation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0BC5F-1BA2-E115-6E37-7EC6D8453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10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1649C-D16C-DC14-3EC1-91EC699AF8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38739"/>
                <a:ext cx="8229600" cy="3428524"/>
              </a:xfrm>
            </p:spPr>
            <p:txBody>
              <a:bodyPr>
                <a:noAutofit/>
              </a:bodyPr>
              <a:lstStyle/>
              <a:p>
                <a:r>
                  <a:rPr lang="en-US" sz="1600" dirty="0"/>
                  <a:t>We use the error rates and timing models from prior work</a:t>
                </a:r>
              </a:p>
              <a:p>
                <a:r>
                  <a:rPr lang="en-US" sz="1600" dirty="0"/>
                  <a:t>Benchmarks are obtained from </a:t>
                </a:r>
                <a:r>
                  <a:rPr lang="en-US" sz="1600" dirty="0" err="1"/>
                  <a:t>QASMBench</a:t>
                </a:r>
                <a:r>
                  <a:rPr lang="en-US" sz="1600" dirty="0"/>
                  <a:t> suite</a:t>
                </a:r>
              </a:p>
              <a:p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𝑅𝑧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states are synthesized into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600" dirty="0"/>
                  <a:t> states using </a:t>
                </a:r>
                <a:r>
                  <a:rPr lang="en-US" sz="1600" dirty="0" err="1"/>
                  <a:t>Gridsynth</a:t>
                </a:r>
                <a:endParaRPr lang="en-US" sz="1600" dirty="0"/>
              </a:p>
              <a:p>
                <a:pPr lvl="1"/>
                <a:r>
                  <a:rPr lang="en-US" sz="1200" dirty="0"/>
                  <a:t>Precision for each benchmark is chosen such that total synthesis error has the same leading order as the total error from in-module, inter-module, injections etc.</a:t>
                </a:r>
              </a:p>
              <a:p>
                <a:pPr lvl="1"/>
                <a:r>
                  <a:rPr lang="en-US" sz="1200" dirty="0"/>
                  <a:t>For the benchmark circuits we consider, the synthesis precisions are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−11</m:t>
                        </m:r>
                      </m:sup>
                    </m:sSup>
                    <m:r>
                      <m:rPr>
                        <m:nor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−8</m:t>
                        </m:r>
                      </m:sup>
                    </m:sSup>
                  </m:oMath>
                </a14:m>
                <a:endParaRPr lang="en-US" sz="1200" dirty="0"/>
              </a:p>
              <a:p>
                <a:r>
                  <a:rPr lang="en-US" sz="1600" dirty="0"/>
                  <a:t>We run 20 trials to model non-deterministic execution in INJEQT, cultivation and STAR</a:t>
                </a:r>
              </a:p>
              <a:p>
                <a:r>
                  <a:rPr lang="en-US" sz="1600" dirty="0"/>
                  <a:t>We compute the total program error rate using a first order approximation</a:t>
                </a:r>
              </a:p>
              <a:p>
                <a:r>
                  <a:rPr lang="en-US" sz="1600" dirty="0"/>
                  <a:t>Surface code operations are modelled for both lattice surgery and transversal injections</a:t>
                </a:r>
              </a:p>
              <a:p>
                <a:r>
                  <a:rPr lang="en-US" sz="1600" dirty="0"/>
                  <a:t>For INJEQT, we evaluate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1,20</m:t>
                        </m:r>
                      </m:e>
                    </m:d>
                  </m:oMath>
                </a14:m>
                <a:r>
                  <a:rPr lang="en-US" sz="1600" dirty="0"/>
                  <a:t>, and report the value which optimizes the metric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51649C-D16C-DC14-3EC1-91EC699AF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38739"/>
                <a:ext cx="8229600" cy="3428524"/>
              </a:xfrm>
              <a:blipFill>
                <a:blip r:embed="rId3"/>
                <a:stretch>
                  <a:fillRect l="-309" t="-369" b="-2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8E74-04D8-21B6-FEB7-4E3A1022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35E38F5-05D1-642D-58D9-0A75B0211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7051" y="1131590"/>
            <a:ext cx="6269749" cy="363341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35F06F-BF2C-8ABF-1F92-CFDADC16D7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11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D085C0-10C6-EB56-339E-C7DFEC1D2095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Evaluation – Distillation Factory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9E0D8-A08B-ADBB-4B78-FB269CBCA140}"/>
              </a:ext>
            </a:extLst>
          </p:cNvPr>
          <p:cNvSpPr txBox="1"/>
          <p:nvPr/>
        </p:nvSpPr>
        <p:spPr>
          <a:xfrm>
            <a:off x="457200" y="1515750"/>
            <a:ext cx="2242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12.5% improvement in total error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073527-6EF5-8ED9-43DF-1227A438B35F}"/>
              </a:ext>
            </a:extLst>
          </p:cNvPr>
          <p:cNvSpPr txBox="1"/>
          <p:nvPr/>
        </p:nvSpPr>
        <p:spPr>
          <a:xfrm>
            <a:off x="457200" y="2231846"/>
            <a:ext cx="1944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7x improvement in space-time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04346-E962-1DC1-8D7F-20562DFC6BB4}"/>
              </a:ext>
            </a:extLst>
          </p:cNvPr>
          <p:cNvSpPr txBox="1"/>
          <p:nvPr/>
        </p:nvSpPr>
        <p:spPr>
          <a:xfrm>
            <a:off x="457200" y="2946350"/>
            <a:ext cx="2141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13x improvement in wall-clock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AB0417-3A4D-B156-CFD3-8D42EE410844}"/>
              </a:ext>
            </a:extLst>
          </p:cNvPr>
          <p:cNvSpPr txBox="1"/>
          <p:nvPr/>
        </p:nvSpPr>
        <p:spPr>
          <a:xfrm>
            <a:off x="457200" y="3664542"/>
            <a:ext cx="224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With at most an 8% increase in #physical qubits</a:t>
            </a:r>
          </a:p>
        </p:txBody>
      </p:sp>
    </p:spTree>
    <p:extLst>
      <p:ext uri="{BB962C8B-B14F-4D97-AF65-F5344CB8AC3E}">
        <p14:creationId xmlns:p14="http://schemas.microsoft.com/office/powerpoint/2010/main" val="138423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A16B-61F4-4C8B-9332-059C7D45B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4BDE73-7D0D-EE43-DBDC-DFEA002D4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41" y="1131589"/>
            <a:ext cx="6394659" cy="363567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FF9A5A-905D-2C93-A596-FAD5765CB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12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E8BE21-99BB-1669-3281-4F52538DAFA3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Evaluation – Cultivation Factory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06CEF8-942F-BB15-275C-E1BE9BC40AFC}"/>
              </a:ext>
            </a:extLst>
          </p:cNvPr>
          <p:cNvSpPr txBox="1"/>
          <p:nvPr/>
        </p:nvSpPr>
        <p:spPr>
          <a:xfrm>
            <a:off x="333451" y="2190890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5x improvement in space-time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5B0B4-02F7-72B5-6351-B945879F7427}"/>
              </a:ext>
            </a:extLst>
          </p:cNvPr>
          <p:cNvSpPr txBox="1"/>
          <p:nvPr/>
        </p:nvSpPr>
        <p:spPr>
          <a:xfrm>
            <a:off x="333451" y="2927703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8.8x improvement in wall-clock 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C4D7F-34DA-20E9-5277-E4325D1399B5}"/>
              </a:ext>
            </a:extLst>
          </p:cNvPr>
          <p:cNvSpPr txBox="1"/>
          <p:nvPr/>
        </p:nvSpPr>
        <p:spPr>
          <a:xfrm>
            <a:off x="333451" y="3659267"/>
            <a:ext cx="224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With at most a 25% increase in #physical qubits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3BE9E7-CA3C-CEC5-161A-DADB879D9FE0}"/>
              </a:ext>
            </a:extLst>
          </p:cNvPr>
          <p:cNvSpPr txBox="1"/>
          <p:nvPr/>
        </p:nvSpPr>
        <p:spPr>
          <a:xfrm>
            <a:off x="333451" y="1485307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22x improvement in total error</a:t>
            </a:r>
          </a:p>
        </p:txBody>
      </p:sp>
    </p:spTree>
    <p:extLst>
      <p:ext uri="{BB962C8B-B14F-4D97-AF65-F5344CB8AC3E}">
        <p14:creationId xmlns:p14="http://schemas.microsoft.com/office/powerpoint/2010/main" val="281032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4C88-B0F0-D762-F2BF-21B8A88A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7FDE9-A34B-8CC5-6331-67269D04E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66" y="1131590"/>
            <a:ext cx="6325134" cy="36356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662F9-6028-5021-3C55-7F523F00F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8058D-AD74-3FE5-B7B0-F49E698C8E67}"/>
              </a:ext>
            </a:extLst>
          </p:cNvPr>
          <p:cNvSpPr txBox="1"/>
          <p:nvPr/>
        </p:nvSpPr>
        <p:spPr>
          <a:xfrm>
            <a:off x="457200" y="2174999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16x improvement in space-time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83D97B-8512-E279-7F67-58326ACCBC9D}"/>
              </a:ext>
            </a:extLst>
          </p:cNvPr>
          <p:cNvSpPr txBox="1"/>
          <p:nvPr/>
        </p:nvSpPr>
        <p:spPr>
          <a:xfrm>
            <a:off x="457200" y="2931790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12x improvement in wall-clock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B9B4EA-1754-0C2B-AAA9-1B163B65802B}"/>
              </a:ext>
            </a:extLst>
          </p:cNvPr>
          <p:cNvSpPr txBox="1"/>
          <p:nvPr/>
        </p:nvSpPr>
        <p:spPr>
          <a:xfrm>
            <a:off x="457200" y="3788984"/>
            <a:ext cx="22425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11% improvement in #physical qubits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ED1CC-0C8E-6A9C-5163-8891A92EDD1D}"/>
              </a:ext>
            </a:extLst>
          </p:cNvPr>
          <p:cNvSpPr txBox="1"/>
          <p:nvPr/>
        </p:nvSpPr>
        <p:spPr>
          <a:xfrm>
            <a:off x="457200" y="1459493"/>
            <a:ext cx="20699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Up to 18x improvement in total error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81C86E-1277-ECD6-2D29-F0C2CFA0567D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Evaluation – STAR Factory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21882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AEC6E-8DBC-65F0-54AB-E3FBEB4C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7EB877-13D5-9374-6254-35888C3B5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131590"/>
            <a:ext cx="5554960" cy="36267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06EE00-99B3-353F-E3BA-4FA90B025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14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B070DD-F4AA-B8DF-27CB-D226FD984100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Evaluation – Sensitivity to #Factories (R)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77CB33-0F96-A132-F043-93C948E5CF62}"/>
              </a:ext>
            </a:extLst>
          </p:cNvPr>
          <p:cNvSpPr txBox="1"/>
          <p:nvPr/>
        </p:nvSpPr>
        <p:spPr>
          <a:xfrm>
            <a:off x="457200" y="2160156"/>
            <a:ext cx="23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Different benchmarks have different operating points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C7569D-CE0E-1030-D1C8-F81C655A7D67}"/>
              </a:ext>
            </a:extLst>
          </p:cNvPr>
          <p:cNvSpPr txBox="1"/>
          <p:nvPr/>
        </p:nvSpPr>
        <p:spPr>
          <a:xfrm>
            <a:off x="457200" y="2870049"/>
            <a:ext cx="21705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Improvements saturate with increasing factories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4D91D-AB1C-2FA4-4CA4-81323911DD67}"/>
              </a:ext>
            </a:extLst>
          </p:cNvPr>
          <p:cNvSpPr txBox="1"/>
          <p:nvPr/>
        </p:nvSpPr>
        <p:spPr>
          <a:xfrm>
            <a:off x="457200" y="3579942"/>
            <a:ext cx="2530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Monotonic increase in #qubits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C160EC-F997-EA96-B62F-B885EC07941E}"/>
              </a:ext>
            </a:extLst>
          </p:cNvPr>
          <p:cNvSpPr txBox="1"/>
          <p:nvPr/>
        </p:nvSpPr>
        <p:spPr>
          <a:xfrm>
            <a:off x="457200" y="1527996"/>
            <a:ext cx="1090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No change</a:t>
            </a:r>
          </a:p>
        </p:txBody>
      </p:sp>
    </p:spTree>
    <p:extLst>
      <p:ext uri="{BB962C8B-B14F-4D97-AF65-F5344CB8AC3E}">
        <p14:creationId xmlns:p14="http://schemas.microsoft.com/office/powerpoint/2010/main" val="35639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F5A1-D945-77A7-25E6-65035512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996EEE-9875-1C3C-A8A7-95C70934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47" y="1131590"/>
            <a:ext cx="6172053" cy="35283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E299B-2860-484E-9220-282453489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15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311B91-A78A-8822-93F6-016E55288092}"/>
              </a:ext>
            </a:extLst>
          </p:cNvPr>
          <p:cNvSpPr txBox="1">
            <a:spLocks/>
          </p:cNvSpPr>
          <p:nvPr/>
        </p:nvSpPr>
        <p:spPr>
          <a:xfrm>
            <a:off x="457200" y="483518"/>
            <a:ext cx="8229600" cy="648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2800" dirty="0"/>
              <a:t>Evaluation – Sensitivity to #Factories (R)</a:t>
            </a:r>
            <a:endParaRPr lang="en-GB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0F412-8BC2-FA5F-351C-2FC6242D6E51}"/>
              </a:ext>
            </a:extLst>
          </p:cNvPr>
          <p:cNvSpPr txBox="1"/>
          <p:nvPr/>
        </p:nvSpPr>
        <p:spPr>
          <a:xfrm>
            <a:off x="457200" y="1995686"/>
            <a:ext cx="2057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Optimal R for most benchmarks is ~7-10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18303-B448-3FF6-8069-9BE7641E4B65}"/>
              </a:ext>
            </a:extLst>
          </p:cNvPr>
          <p:cNvSpPr txBox="1"/>
          <p:nvPr/>
        </p:nvSpPr>
        <p:spPr>
          <a:xfrm>
            <a:off x="457199" y="3291830"/>
            <a:ext cx="2057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fontAlgn="auto">
              <a:spcAft>
                <a:spcPts val="0"/>
              </a:spcAft>
              <a:buNone/>
            </a:pPr>
            <a:r>
              <a:rPr lang="en-US" sz="1400" dirty="0"/>
              <a:t>Some benchmarks achieve maximal speedup with fewer factories</a:t>
            </a:r>
          </a:p>
        </p:txBody>
      </p:sp>
    </p:spTree>
    <p:extLst>
      <p:ext uri="{BB962C8B-B14F-4D97-AF65-F5344CB8AC3E}">
        <p14:creationId xmlns:p14="http://schemas.microsoft.com/office/powerpoint/2010/main" val="4088132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A91D-E869-0DF8-8166-309D7D3E2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61B5-FEB1-F908-0358-4EB17586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2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67A9E-6626-A0AF-38C0-C0754125C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2550"/>
            <a:ext cx="8229600" cy="3272135"/>
          </a:xfrm>
        </p:spPr>
        <p:txBody>
          <a:bodyPr>
            <a:noAutofit/>
          </a:bodyPr>
          <a:lstStyle/>
          <a:p>
            <a:r>
              <a:rPr lang="en-US" sz="1600" dirty="0"/>
              <a:t>Extractor-based architectures are bottlenecked by:</a:t>
            </a:r>
          </a:p>
          <a:p>
            <a:pPr lvl="1"/>
            <a:r>
              <a:rPr lang="en-US" sz="1400" dirty="0"/>
              <a:t>sequential execution and high error rates of inter-module measurements </a:t>
            </a:r>
            <a:endParaRPr lang="en-US" sz="1600" dirty="0"/>
          </a:p>
          <a:p>
            <a:pPr lvl="1"/>
            <a:r>
              <a:rPr lang="en-US" sz="1400" dirty="0"/>
              <a:t>Resource state injection contributes over 90% of the total program error</a:t>
            </a:r>
            <a:endParaRPr lang="en-US" sz="1600" dirty="0"/>
          </a:p>
          <a:p>
            <a:r>
              <a:rPr lang="en-US" sz="1600" dirty="0"/>
              <a:t>We propose INJEQT, a 2-level factory design:</a:t>
            </a:r>
          </a:p>
          <a:p>
            <a:pPr lvl="1">
              <a:buFont typeface="+mj-lt"/>
              <a:buAutoNum type="arabicPeriod"/>
            </a:pPr>
            <a:r>
              <a:rPr lang="en-US" sz="1200" dirty="0"/>
              <a:t>first prepare Rz states in an auxiliary code,</a:t>
            </a:r>
          </a:p>
          <a:p>
            <a:pPr lvl="1">
              <a:buFont typeface="+mj-lt"/>
              <a:buAutoNum type="arabicPeriod"/>
            </a:pPr>
            <a:r>
              <a:rPr lang="en-US" sz="1200" dirty="0"/>
              <a:t>then inject the Rz state onto the extractor module</a:t>
            </a:r>
          </a:p>
          <a:p>
            <a:r>
              <a:rPr lang="en-US" sz="1600" dirty="0"/>
              <a:t>INJEQT improves program error rates by up to 12.5% for distillation, up to 22x for cultivation, and up to 18x for STAR factories</a:t>
            </a:r>
          </a:p>
          <a:p>
            <a:r>
              <a:rPr lang="en-US" sz="1600" dirty="0"/>
              <a:t>To improve latency of the 2-level factory, we introduce a pre-fetching technique</a:t>
            </a:r>
          </a:p>
          <a:p>
            <a:pPr lvl="1"/>
            <a:r>
              <a:rPr lang="en-US" sz="1200" dirty="0"/>
              <a:t>prepare the Rz state and potential corrections in parallel with other extractor operations</a:t>
            </a:r>
          </a:p>
          <a:p>
            <a:r>
              <a:rPr lang="en-US" sz="1600" dirty="0"/>
              <a:t>This approach improves the wall-clock times by up to 13x for distillation, 8.8x for cultivation and 12x for STAR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116A9-4186-368E-CA8C-6E1FBE0C3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56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7CD7C-CEB9-B55F-9E5B-5E266F2E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FE8F4-35D7-9574-7A15-2123C7E9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150"/>
            <a:ext cx="8229600" cy="857250"/>
          </a:xfrm>
        </p:spPr>
        <p:txBody>
          <a:bodyPr>
            <a:normAutofit/>
          </a:bodyPr>
          <a:lstStyle/>
          <a:p>
            <a:r>
              <a:rPr lang="en-US" sz="3600" dirty="0"/>
              <a:t>Thanks!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2C3DF6D-522C-95BA-08C8-5E4921DEC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5989" y="1203598"/>
            <a:ext cx="7132022" cy="3775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29A02-89FD-1F2F-1053-53677C92D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438150"/>
            <a:ext cx="1008112" cy="1008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90015E-D452-C215-5E4A-21BFE384B01A}"/>
              </a:ext>
            </a:extLst>
          </p:cNvPr>
          <p:cNvSpPr txBox="1"/>
          <p:nvPr/>
        </p:nvSpPr>
        <p:spPr>
          <a:xfrm>
            <a:off x="7993362" y="1347614"/>
            <a:ext cx="79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Code available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BDEF5-DF43-A783-F3B2-CB955B838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92BDC53-02C3-EE45-9990-929E33E3BFC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369587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T_Austin_Template" id="{784DE63B-CD94-BE4B-B8BA-C5905D1098E6}" vid="{22A74E56-D346-9645-944C-342726020B92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T_Austin_Template" id="{784DE63B-CD94-BE4B-B8BA-C5905D1098E6}" vid="{730D88A6-2970-2B43-949F-B1F193DB99E0}"/>
    </a:ext>
  </a:extLst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T_Austin_Template" id="{784DE63B-CD94-BE4B-B8BA-C5905D1098E6}" vid="{BA063E99-856B-7A4B-B2C4-19B4F7CAEF78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 Cover</Template>
  <TotalTime>2982</TotalTime>
  <Words>1202</Words>
  <Application>Microsoft Macintosh PowerPoint</Application>
  <PresentationFormat>On-screen Show (16:9)</PresentationFormat>
  <Paragraphs>175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Calibri</vt:lpstr>
      <vt:lpstr>Cambria Math</vt:lpstr>
      <vt:lpstr>16-9 Cover</vt:lpstr>
      <vt:lpstr>16-9 Light Background</vt:lpstr>
      <vt:lpstr>16-9 White Backgroud</vt:lpstr>
      <vt:lpstr>PowerPoint Presentation</vt:lpstr>
      <vt:lpstr>PowerPoint Presentation</vt:lpstr>
      <vt:lpstr>Compiling to Extractor Architecture</vt:lpstr>
      <vt:lpstr>Extractor ISA on the Gross Code (Tour de Gross)</vt:lpstr>
      <vt:lpstr>PowerPoint Presentation</vt:lpstr>
      <vt:lpstr>PowerPoint Presentation</vt:lpstr>
      <vt:lpstr>INJEQT: 2-Level Factory Design</vt:lpstr>
      <vt:lpstr>INJEQT: Timing Analysis</vt:lpstr>
      <vt:lpstr>INJEQT: Improve Performance by Pre-Fetching</vt:lpstr>
      <vt:lpstr>Evaluation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Sayam Sethi</dc:creator>
  <cp:keywords/>
  <dc:description/>
  <cp:lastModifiedBy>Sayam Sethi</cp:lastModifiedBy>
  <cp:revision>172</cp:revision>
  <cp:lastPrinted>2011-01-24T02:49:42Z</cp:lastPrinted>
  <dcterms:created xsi:type="dcterms:W3CDTF">2026-05-25T21:20:44Z</dcterms:created>
  <dcterms:modified xsi:type="dcterms:W3CDTF">2026-09-18T19:28:03Z</dcterms:modified>
  <cp:category/>
</cp:coreProperties>
</file>